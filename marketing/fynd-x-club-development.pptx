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7" r:id="rId18"/>
    <p:sldId id="268" r:id="rId19"/>
    <p:sldId id="269" r:id="rId20"/>
    <p:sldId id="262" r:id="rId8"/>
    <p:sldId id="263" r:id="rId9"/>
    <p:sldId id="273" r:id="rId24"/>
    <p:sldId id="274" r:id="rId25"/>
    <p:sldId id="275" r:id="rId26"/>
    <p:sldId id="270" r:id="rId21"/>
    <p:sldId id="271" r:id="rId22"/>
    <p:sldId id="272" r:id="rId23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7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2310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22215" y="384048"/>
            <a:ext cx="176627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50" dirty="0" err="1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</a:t>
            </a:r>
            <a:r>
              <a:rPr lang="en-US" sz="1700" b="1" kern="0" spc="50" dirty="0" err="1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.fans</a:t>
            </a:r>
            <a:endParaRPr lang="en-US" sz="1700" dirty="0"/>
          </a:p>
        </p:txBody>
      </p:sp>
      <p:sp>
        <p:nvSpPr>
          <p:cNvPr id="4" name="Shape 1"/>
          <p:cNvSpPr/>
          <p:nvPr/>
        </p:nvSpPr>
        <p:spPr>
          <a:xfrm>
            <a:off x="548640" y="1243584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5" name="Text 2"/>
          <p:cNvSpPr/>
          <p:nvPr/>
        </p:nvSpPr>
        <p:spPr>
          <a:xfrm>
            <a:off x="713232" y="1179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PODKLAD PRE SFZ MARKETING · JÚL 2026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vie </a:t>
            </a:r>
            <a:r>
              <a:rPr lang="en-US" sz="32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</a:t>
            </a:r>
            <a:r>
              <a:rPr lang="en-US" sz="32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priniesť</a:t>
            </a:r>
            <a:endParaRPr lang="en-US" sz="32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Development</a:t>
            </a:r>
            <a:endParaRPr lang="en-US" sz="32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 navyše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3401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Score.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384048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Motivačná vrstva pre deti a kluby · dáta, ktoré dnes neexistujú · podiel na tržbách pre SFZ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462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Tadeáš Letko · info@fynd.fans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051560"/>
            <a:ext cx="2606040" cy="1463040"/>
          </a:xfrm>
          <a:prstGeom prst="roundRect">
            <a:avLst>
              <a:gd name="adj" fmla="val 5625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1" name="Text 8"/>
          <p:cNvSpPr/>
          <p:nvPr/>
        </p:nvSpPr>
        <p:spPr>
          <a:xfrm>
            <a:off x="6217920" y="12070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TRÉNINGOVÝ STREAK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813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dní v rade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217920" y="1883664"/>
            <a:ext cx="192024" cy="192024"/>
          </a:xfrm>
          <a:prstGeom prst="ellipse">
            <a:avLst/>
          </a:prstGeom>
          <a:solidFill>
            <a:srgbClr val="00D97E"/>
          </a:solidFill>
          <a:ln w="952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Text 11"/>
          <p:cNvSpPr/>
          <p:nvPr/>
        </p:nvSpPr>
        <p:spPr>
          <a:xfrm>
            <a:off x="6172200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6533388" y="1883664"/>
            <a:ext cx="192024" cy="192024"/>
          </a:xfrm>
          <a:prstGeom prst="ellipse">
            <a:avLst/>
          </a:prstGeom>
          <a:solidFill>
            <a:srgbClr val="00D97E"/>
          </a:solidFill>
          <a:ln w="952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Text 13"/>
          <p:cNvSpPr/>
          <p:nvPr/>
        </p:nvSpPr>
        <p:spPr>
          <a:xfrm>
            <a:off x="6487668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848856" y="1883664"/>
            <a:ext cx="192024" cy="192024"/>
          </a:xfrm>
          <a:prstGeom prst="ellipse">
            <a:avLst/>
          </a:prstGeom>
          <a:solidFill>
            <a:srgbClr val="00D97E"/>
          </a:solidFill>
          <a:ln w="952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Text 15"/>
          <p:cNvSpPr/>
          <p:nvPr/>
        </p:nvSpPr>
        <p:spPr>
          <a:xfrm>
            <a:off x="6803136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164324" y="1883664"/>
            <a:ext cx="192024" cy="192024"/>
          </a:xfrm>
          <a:prstGeom prst="ellipse">
            <a:avLst/>
          </a:prstGeom>
          <a:solidFill>
            <a:srgbClr val="00D97E"/>
          </a:solidFill>
          <a:ln w="952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Text 17"/>
          <p:cNvSpPr/>
          <p:nvPr/>
        </p:nvSpPr>
        <p:spPr>
          <a:xfrm>
            <a:off x="7118604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7479792" y="1883664"/>
            <a:ext cx="192024" cy="192024"/>
          </a:xfrm>
          <a:prstGeom prst="ellipse">
            <a:avLst/>
          </a:prstGeom>
          <a:solidFill>
            <a:srgbClr val="FFB830"/>
          </a:solidFill>
          <a:ln w="9525">
            <a:solidFill>
              <a:srgbClr val="FFB83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Text 19"/>
          <p:cNvSpPr/>
          <p:nvPr/>
        </p:nvSpPr>
        <p:spPr>
          <a:xfrm>
            <a:off x="7434072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</a:t>
            </a:r>
            <a:endParaRPr lang="en-US" sz="750" dirty="0"/>
          </a:p>
        </p:txBody>
      </p:sp>
      <p:sp>
        <p:nvSpPr>
          <p:cNvPr id="24" name="Shape 20"/>
          <p:cNvSpPr/>
          <p:nvPr/>
        </p:nvSpPr>
        <p:spPr>
          <a:xfrm>
            <a:off x="7795260" y="1883664"/>
            <a:ext cx="192024" cy="192024"/>
          </a:xfrm>
          <a:prstGeom prst="ellipse">
            <a:avLst/>
          </a:prstGeom>
          <a:solidFill>
            <a:srgbClr val="0D1B2E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Text 21"/>
          <p:cNvSpPr/>
          <p:nvPr/>
        </p:nvSpPr>
        <p:spPr>
          <a:xfrm>
            <a:off x="7749540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8110728" y="1883664"/>
            <a:ext cx="192024" cy="192024"/>
          </a:xfrm>
          <a:prstGeom prst="ellipse">
            <a:avLst/>
          </a:prstGeom>
          <a:solidFill>
            <a:srgbClr val="0D1B2E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3"/>
          <p:cNvSpPr/>
          <p:nvPr/>
        </p:nvSpPr>
        <p:spPr>
          <a:xfrm>
            <a:off x="8065008" y="210312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750" dirty="0"/>
          </a:p>
        </p:txBody>
      </p:sp>
      <p:sp>
        <p:nvSpPr>
          <p:cNvPr id="28" name="Shape 24"/>
          <p:cNvSpPr/>
          <p:nvPr/>
        </p:nvSpPr>
        <p:spPr>
          <a:xfrm>
            <a:off x="5989320" y="2743200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907792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537960" y="2871216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 — Nádejný talent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217920" y="3310128"/>
            <a:ext cx="2148840" cy="128016"/>
          </a:xfrm>
          <a:prstGeom prst="roundRect">
            <a:avLst>
              <a:gd name="adj" fmla="val 50000"/>
            </a:avLst>
          </a:prstGeom>
          <a:solidFill>
            <a:srgbClr val="22344A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2" name="Shape 27"/>
          <p:cNvSpPr/>
          <p:nvPr/>
        </p:nvSpPr>
        <p:spPr>
          <a:xfrm>
            <a:off x="6217920" y="3310128"/>
            <a:ext cx="969264" cy="128016"/>
          </a:xfrm>
          <a:prstGeom prst="roundRect">
            <a:avLst>
              <a:gd name="adj" fmla="val 50000"/>
            </a:avLst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3" name="Text 28"/>
          <p:cNvSpPr/>
          <p:nvPr/>
        </p:nvSpPr>
        <p:spPr>
          <a:xfrm>
            <a:off x="6217920" y="35112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1 450 / 2 000 XP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5989320" y="4224528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5" name="Shape 30"/>
          <p:cNvSpPr/>
          <p:nvPr/>
        </p:nvSpPr>
        <p:spPr>
          <a:xfrm>
            <a:off x="6199632" y="4361688"/>
            <a:ext cx="109728" cy="109728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6" name="Text 31"/>
          <p:cNvSpPr/>
          <p:nvPr/>
        </p:nvSpPr>
        <p:spPr>
          <a:xfrm>
            <a:off x="6382512" y="422452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· MFK N. Baňa 2:1 FK Žiar</a:t>
            </a:r>
            <a:endParaRPr lang="en-US" sz="950" dirty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ROVNAKÝ CIEĽ, INÁ VRSTVA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nesúperí s Club </a:t>
            </a:r>
            <a:r>
              <a:rPr lang="en-US" sz="2500" b="1" dirty="0" err="1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Developmentom</a:t>
            </a: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stavia naň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070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Cieľ CD: </a:t>
            </a:r>
            <a:r>
              <a:rPr lang="en-US" sz="1300" i="1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„udržať v ekosystéme futbalových hodnôt ľudí po celý život“. </a:t>
            </a: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ten istý cieľ rieši tam, kde sa rozhoduje — či dieťa príde na tréning aj budúci týždeň.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804672"/>
          </a:xfrm>
          <a:prstGeom prst="roundRect">
            <a:avLst>
              <a:gd name="adj" fmla="val 10227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2066544"/>
            <a:ext cx="512064" cy="512064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65" y="2204801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0391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MOTIVAČNÁ VRSTVA — FYND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463040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· streaky · levely · Odmeňovňa · live ticker · dochádzka · chaty · fotky · KPI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720840" y="21579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toto pridáva Fynd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2862072"/>
            <a:ext cx="8046720" cy="804672"/>
          </a:xfrm>
          <a:prstGeom prst="roundRect">
            <a:avLst>
              <a:gd name="adj" fmla="val 10227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3" name="Shape 10"/>
          <p:cNvSpPr/>
          <p:nvPr/>
        </p:nvSpPr>
        <p:spPr>
          <a:xfrm>
            <a:off x="749808" y="3008376"/>
            <a:ext cx="512064" cy="512064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065" y="314663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463040" y="29809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OFICIÁLNA VRSTVA — CLUB DEVELOPMENT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463040" y="32735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CD.app (info, mapa, novinky) · CD.sk (vzdelávanie) · licenčné systémy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720840" y="309981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toto buduje SFZ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" y="3803904"/>
            <a:ext cx="8046720" cy="804672"/>
          </a:xfrm>
          <a:prstGeom prst="roundRect">
            <a:avLst>
              <a:gd name="adj" fmla="val 10227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9" name="Shape 15"/>
          <p:cNvSpPr/>
          <p:nvPr/>
        </p:nvSpPr>
        <p:spPr>
          <a:xfrm>
            <a:off x="749808" y="3950208"/>
            <a:ext cx="512064" cy="512064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065" y="4088465"/>
            <a:ext cx="235549" cy="23554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63040" y="392277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DÁTOVÁ VRSTVA — SPORTNET.ONLINE / ISSF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1463040" y="42153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registrácie · súpisky · výsledky · prestupy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720840" y="40416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spoločný základ</a:t>
            </a:r>
            <a:endParaRPr lang="en-US" sz="10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KĽÚČOVÁ MEDZERA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Ekosystému chýba jeho najdôležitejší člen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2070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Cieľové skupiny CD.app: rodičia, fanúšikovia, tréneri, funkcionári, učitelia, samosprávy…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937760" cy="2880360"/>
          </a:xfrm>
          <a:prstGeom prst="roundRect">
            <a:avLst>
              <a:gd name="adj" fmla="val 2857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06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ZISTENIE</a:t>
            </a:r>
            <a:endParaRPr lang="en-US" sz="8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621792" cy="6217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8346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Samotný mladý hráč</a:t>
            </a:r>
            <a:endParaRPr lang="en-US" sz="2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nich chýba.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868680" y="37673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gamifikácia nie je v pláne CD ani do roku 2028.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06440" y="17830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Prečo na tom záleží</a:t>
            </a:r>
            <a:endParaRPr lang="en-US" sz="14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286000"/>
            <a:ext cx="173736" cy="1737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080760" y="22128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Informovať rodiča nestačí — o zotrvaní pri športe rozhoduje motivácia dieťaťa.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090672"/>
            <a:ext cx="173736" cy="1737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080760" y="3017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Kluby strácajú tisíce mladých členov ročne bez dát o tom, kto a prečo odchádza.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895344"/>
            <a:ext cx="173736" cy="17373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80760" y="38221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túto medzeru vypĺňa — bez zásahu do plánu CD.</a:t>
            </a:r>
            <a:endParaRPr lang="en-US" sz="11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21" name="Text 14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NAVYŠE Č. 1 — MOTIVÁCIA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Návyk dieťaťa, nie ďalšia nástenka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Mechaniky overené Duolingom (500 mil. používateľov), aplikované na mládežnícky šport: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Tréningový streak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Duolingo-štýl dochádzky — dieťa nechce prerušiť sériu, príde aj v novembri v daždi.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a levely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za tréning, zápas aj hodnotenie. 10 levelov od Začiatočníka po Legendu.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Odznaky a rebríčky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Míľniky a porovnanie v klube, regióne aj celoslovensky — férovo podľa kategórií.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Odmeňovňa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 premení XP na reálne odmeny: fľaša, dres, tréning s A-tímom. Bez excelov.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Žiadne pay-to-win.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sa nedá kúpiť — prémium je len kozmetika a analytika.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DÔVERYHODNOSŤ STREAKU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bez medzier, aj mimo klubu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Klubový tréning je jadro série, individuálny ju len preklenie — podľa jasných pravidiel.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Nahlásenie do 23:59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Hráč nahlási tréning sám v ten istý deň — žiadne spätné dopĺňanie série.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Súhlas rodiča do 24 h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U9–U13: rodič potvrdí jedným tlačidlom. Od U15 stačí nahlásenie hráča.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Max. 2 za sebou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Premostí najviac dva dni medzi klubovými tréningami — tie zostávajú jadrom série.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Nižšie XP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Menej XP než klubový tréning a viditeľné v prehľade trénera.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Žiadna GPS ani biometria.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Dôveryhodnosť stojí na limitoch a transparentnosti voči trénerovi.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OCHRANA PROTI FAKOVANIU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podplatený tréner nestačí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Namiesto kamier a senzorov: dôveryhodnosť postavená na počte nezávislých svedkov.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Náhodný peer-quorum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tréningu appka vyzve 2 náhodne vybraných spoluhráčov, nech jedným tapom potvrdia, kto tam bol.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Whistle-bonus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Nezrovnalosť sa dá nahlásiť anonymne a odmení sa bonusovým XP — kryť cudziu neúčasť sa neoplatí.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Kolúzia sa nescaluje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Podplatiť trénera je jedna osoba. Podplácať náhodných spoluhráčov každý týždeň je nezmysel.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Štatistický radar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Podozrivo dokonalá dochádzka sa aj tak automaticky označí pre kontrolu klubu — druhá poistka.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hardvéru, bez biometrie.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Dôveryhodnosť rastie z počtu nezávislých svedkov, nie z počtu senzorov.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OVERENIE INDIVIDUÁLNYCH TRÉNINGOV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Nevie, kedy príde kontrola — tak trénuje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Rovnaký princíp ako pri klube — nepredvídateľnosť namiesto sledovania, len bez spoluhráčov nablízku.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Tréningový buddy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Hráč si vyberie spoluhráča ako accountability partnera — appka mu namátkovo pošle, či o tréningu vedel.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Náhodný video dôkaz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nepredvídateľné dni appka požiada o 15-sek. klip — kedy presne, hráč vopred nevie.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Kontextová kontrola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Verejné dáta o počasí v obci potichu overia vierohodnosť — tréning vonku počas búrky sa označí.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Nízka hodnota, nízka motivácia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Menej XP než klub a max. 2 za sebou (predošlé pravidlá) — podvod sa jednoducho neoplatí.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Neviditeľná kontrola stačí.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Hráč nevie, kedy príde overenie — a to samo osebe stačí na to, aby radšej trénoval.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PREHĽAD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CD.app a Fynd sa </a:t>
            </a:r>
            <a:r>
              <a:rPr lang="en-US" sz="2500" b="1" dirty="0" err="1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neprekrývajú</a:t>
            </a: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dopĺňajú sa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3008376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Oblasť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CD.app (oficiálna vrstva)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610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Fynd pridáva navyše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9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Informácie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zápasy, mapa „kam na futbal“, novinky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ticker so zostavami, per-klub push notifikácie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Motivácia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XP, streaky, levely, odznaky, Odmeňovňa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Dochádzka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formuláre kvality klubov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30-sek. označenie → KPI a riziko odchodu automaticky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Komunikácia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bez príloh, tímové skupiny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vekové práva, prílohy, fotky, roly Fotograf/Grafik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CD.sk vzdelávanie, články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denné publikum trénerov a rodičov pre tento obsah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Hráč-dieťa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áno, spolu s rodičmi — pasívny príjemca info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CA6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áno — aktívny hráč vlastného návyku, XP, streaku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54864" marB="54864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537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Zásada: </a:t>
            </a:r>
            <a:r>
              <a:rPr lang="en-US" sz="1050" i="1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nič, čo CD.app ponúka zadarmo, nie je vo Fynde spoplatnené — Fynd na oficiálnu appku nadväzuje, nekonkuruje jej.</a:t>
            </a:r>
            <a:endParaRPr lang="en-US" sz="1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5" name="Text 4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BIZNIS MODEL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fynd.fans </a:t>
            </a:r>
            <a:r>
              <a:rPr lang="en-US" sz="2500" b="1" dirty="0" err="1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zarába</a:t>
            </a: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transparentne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Kluby, hráči a rodičia neplatia za žiadnu základnú funkciu. Žiadne reklamné siete, žiadne pay-to-win.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2606040" cy="1810512"/>
          </a:xfrm>
          <a:prstGeom prst="roundRect">
            <a:avLst>
              <a:gd name="adj" fmla="val 4545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06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HLAVNÝ ZDROJ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1883664"/>
            <a:ext cx="457200" cy="457200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2007108"/>
            <a:ext cx="210312" cy="2103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24323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Fynd+ predplatné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7724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8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Hráč 1,99 € · Tréner 3,99 € · Klub 14,99 € mesačne — kozmetika, analytika, klubový branding. Konverzia 3 – 5 %.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337560" y="1700784"/>
            <a:ext cx="2606040" cy="1810512"/>
          </a:xfrm>
          <a:prstGeom prst="roundRect">
            <a:avLst>
              <a:gd name="adj" fmla="val 4545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4" name="Shape 11"/>
          <p:cNvSpPr/>
          <p:nvPr/>
        </p:nvSpPr>
        <p:spPr>
          <a:xfrm>
            <a:off x="3566160" y="1883664"/>
            <a:ext cx="457200" cy="457200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9604" y="2007108"/>
            <a:ext cx="210312" cy="2103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66160" y="24323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Lokálny sponzoring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56616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8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Regionálne firmy — nenápadný banner v appke ich komunity, 50 – 75 € / mes. / sponzor.</a:t>
            </a:r>
            <a:endParaRPr lang="en-US" sz="980" dirty="0"/>
          </a:p>
        </p:txBody>
      </p:sp>
      <p:sp>
        <p:nvSpPr>
          <p:cNvPr id="18" name="Shape 14"/>
          <p:cNvSpPr/>
          <p:nvPr/>
        </p:nvSpPr>
        <p:spPr>
          <a:xfrm>
            <a:off x="6126480" y="1700784"/>
            <a:ext cx="2606040" cy="1810512"/>
          </a:xfrm>
          <a:prstGeom prst="roundRect">
            <a:avLst>
              <a:gd name="adj" fmla="val 4545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9" name="Shape 15"/>
          <p:cNvSpPr/>
          <p:nvPr/>
        </p:nvSpPr>
        <p:spPr>
          <a:xfrm>
            <a:off x="6355080" y="1883664"/>
            <a:ext cx="457200" cy="457200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8524" y="2007108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55080" y="24323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Partnerstvá (SFZ)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35508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8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Dáta a spolupráca so zväzom — návrh delenia tržieb na ďalšom slajde.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548640" y="3730752"/>
            <a:ext cx="8046720" cy="960120"/>
          </a:xfrm>
          <a:prstGeom prst="roundRect">
            <a:avLst>
              <a:gd name="adj" fmla="val 8571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4" name="Text 19"/>
          <p:cNvSpPr/>
          <p:nvPr/>
        </p:nvSpPr>
        <p:spPr>
          <a:xfrm>
            <a:off x="822960" y="3785616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~3 000</a:t>
            </a:r>
            <a:endParaRPr lang="en-US" sz="3000" dirty="0"/>
          </a:p>
        </p:txBody>
      </p:sp>
      <p:sp>
        <p:nvSpPr>
          <p:cNvPr id="25" name="Text 20"/>
          <p:cNvSpPr/>
          <p:nvPr/>
        </p:nvSpPr>
        <p:spPr>
          <a:xfrm>
            <a:off x="2606040" y="3822192"/>
            <a:ext cx="5806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aktívnych používateľov stačí na pokrytie celej prevádzky vrátane SLA a údržby — menej než 1 % slovenského futbalového trhu.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10 000 používateľoch model generuje ~1 – 1,5 tis. € mesačne. Detail: docs/FINANCIALS.md · github.com/tadawur/fynd</a:t>
            </a:r>
            <a:endParaRPr lang="en-US" sz="105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ĎALŠIE PRÍJMOVÉ KANÁLY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Peniaze odinakiaľ, nie od rodiča navyše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smery, ktoré rozširujú model bez toho, aby čokoľvek zdraželo existujúcim používateľom.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Darovanie Fynd+ Hráč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Starí rodičia, fanúšikovia či firmy môžu darovať prémiový profil konkrétnemu dieťaťu — nezávisle od rozpočtu rodiny.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Firemný CSR kanál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Zamestnávatelia hromadne kupujú Fynd+ Hráč ako benefit pre deti zamestnancov — väčšie obchody namiesto rodiča po rodičovi.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Odmeňovňa ako marketplace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Reálne produkty od športových značiek v katalógu — hráč platí XP zľavou a malým doplatkom, klub nič neskladuje.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Provízia namiesto nákladu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si necháva 10 – 15 % z každej sprostredkovanej odmeny — z nákladovej položky klubu sa stáva príjem.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Žiadny z týchto kanálov nezvyšuje cenu pre existujúcich.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 to nové cesty k peniazom, nie nové poplatky.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DYNAMICKÁ MONETIZÁCIA 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Platíš menej, čím viac hráš a zdieľaš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zľavy, ktoré odmeňujú aktivitu a organický rast — nie fakturačné triky.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Zľava za streak/XP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Dlhší streak alebo vyššie XP = lacnejší Fynd+ Hráč, napr. -20 % pri 30-dňovom streaku. Len na kozmetiku, nikdy na výhodu.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Rodinná zľava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Druhé dieťa pod tým istým rodičovským účtom -25 %, tretie a ďalšie zadarmo.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Odporúčací bonus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Pozvi rodiča/hráča, ktorý sa stane platiacim → mesiac Fynd+ zadarmo pre teba.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Prečo sa rodinná zľava nedá fakovať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Každý profil overuje registrácia SFZ (Sportnet) — fiktívne dieťa bez reálnej registrácie nejde vytvoriť.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Zľavy sledujú správanie, nie platobnú kartu.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Čím viac hráč trénuje a zdieľa appku, tým menej platí — ekonomika a gamifikácia ťahajú za jeden povraz.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DYNAMICKÁ MONETIZÁCIA II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Cena dýcha s aktivitou, nie je fixná celý rok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Nižšie vstupné riziko a menej strateného predplatného cez mŕtve obdobie.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 tier lacnejší cez leto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-30 až 40 % počas letnej prestávky namiesto úplného zrušenia predplatného na prázdniny.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Udrží kontinuitu, nie len cenu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Klub sa neodhlási a nezabudne sa vrátiť — jeseň začína bez nového onboardingu.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Sponzoring podľa reálneho dosahu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Cena sa mení podľa aktivity klubu v danom mesiaci — viac v sezóne, menej cez prázdniny.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Nižšie vstupné riziko pre sponzora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Menší záväzok na skúšku → viac lokálnych firiem ochotných to vôbec vyskúšať.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Fixná cena ignoruje sezónnosť športu.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Dynamická cena kopíruje reálny cyklus klubu namiesto plochej sadzby po celý rok.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NAVYŠE Č. 3 — SKAUTING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viditeľný ďalej než len na tribúne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Samostatný platený tier pre skautov a agentov — vždy s výslovným súhlasom hráča (a rodiča).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Súhlas podľa veku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15+ si hráč sám zapne viditeľnosť pre skautov. Pod 15 rokov naviac potvrdí rodič.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skaut vidí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Dochádzka, XP trend, pozápasové hodnotenia, pozícia a kategória — nikdy kontakt ani osobné údaje.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Kedykoľvek vypnuteľné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Opt-in je vratný jedným tlačidlom, žiadne uchovávanie u skauta po vypnutí.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19,99 € / mes.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Individuálny účet skauta či agenta — žiadna klubová licencia.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Žiadny nákup bez súhlasu.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Hráč aj rodič vidia presne, kto a čo si pozrel.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TECHNICKÝ DODATOK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je to postavené (v skratke)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Plný technický popis je verejne v repozitári — tu len prehľad pre kontext.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Web App — React, TypeScript, Tailwind. Bez povinného App Store.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Express, TypeScript. Rýchlejšie MVP: Supabase.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Databáza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— hráči, kluby, tréningy, XP udalosti, odznaky, Odmeňovňa, skautský opt-in.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Kde nájsť viac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docs/tech-stack.md, docs/premium-profiles.md — github.com/tadawur/fynd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Žiadny vendor lock-in.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Bežné open-source technológie, jednoducho nahraditeľné a auditovateľné.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ŠKÁLOVANIE A NÁKLADY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100–200-tisíc ročne? Rovnaký stack, iné čísla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Ilustračný odhad pri národnom rozsahu — plný rozpis v docs/FINANCIALS.md.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74980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90" y="1865742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Rovnaký stack, viac kapacity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8988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Žiadna prestavba — len read replika databázy, viac backend inštancií a vyšší CDN tier.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591056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710" y="1865742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0408" y="1709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Infraštruktúra: ~650 – 1 100 € / mes.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0408" y="20482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DB, cache, storage, monitoring pri 200-tis. používateľoch — 2× oproti 10-tisícovej škále, nie 20×.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Shape 13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90" y="327391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8988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Treba už tím, nie len zakladateľa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38988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Aspoň 1 človek na čiastočný úväzok pre DevOps a SLA — odhad 800 – 1 500 € / mes.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999232"/>
            <a:ext cx="3886200" cy="1280160"/>
          </a:xfrm>
          <a:prstGeom prst="roundRect">
            <a:avLst>
              <a:gd name="adj" fmla="val 64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2" name="Shape 17"/>
          <p:cNvSpPr/>
          <p:nvPr/>
        </p:nvSpPr>
        <p:spPr>
          <a:xfrm>
            <a:off x="4910328" y="3145536"/>
            <a:ext cx="475488" cy="475488"/>
          </a:xfrm>
          <a:prstGeom prst="ellipse">
            <a:avLst/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10" y="327391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50408" y="3118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Spolu: ~1 200 – 2 600 € / mes.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5550408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 – 31-tis. € / rok pri národnej škále — stále rádovo pod enterprise vývojom.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4370832"/>
            <a:ext cx="8046720" cy="347472"/>
          </a:xfrm>
          <a:prstGeom prst="roundRect">
            <a:avLst>
              <a:gd name="adj" fmla="val 50000"/>
            </a:avLst>
          </a:prstGeom>
          <a:solidFill>
            <a:srgbClr val="0D1B2E"/>
          </a:solidFill>
          <a:ln w="12700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Text 21"/>
          <p:cNvSpPr/>
          <p:nvPr/>
        </p:nvSpPr>
        <p:spPr>
          <a:xfrm>
            <a:off x="822960" y="4370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Náklady rastú pomalšie než používatelia. </a:t>
            </a:r>
            <a:r>
              <a:rPr lang="en-US" sz="11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+ serverless architektúra škáluje takmer lineárne v cene, nie exponenciálne.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NÁVRH PRE SFZ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Podiel SFZ na tržbách fynd.fans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040880" y="402336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6" name="Text 4"/>
          <p:cNvSpPr/>
          <p:nvPr/>
        </p:nvSpPr>
        <p:spPr>
          <a:xfrm>
            <a:off x="7040880" y="40233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06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OTVORENÝ NÁVRH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SFZ získa podiel na raste platformy bez vlastnej investície do vývoja.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609344"/>
            <a:ext cx="2606040" cy="1700784"/>
          </a:xfrm>
          <a:prstGeom prst="roundRect">
            <a:avLst>
              <a:gd name="adj" fmla="val 4839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9" name="Text 7"/>
          <p:cNvSpPr/>
          <p:nvPr/>
        </p:nvSpPr>
        <p:spPr>
          <a:xfrm>
            <a:off x="777240" y="1719072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77240" y="22494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Fynd+ tržieb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560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6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 futbalových kluboch získaných cez kanály SFZ / CD (odporúčanie, spoločný onboarding)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3337560" y="1609344"/>
            <a:ext cx="2606040" cy="1700784"/>
          </a:xfrm>
          <a:prstGeom prst="roundRect">
            <a:avLst>
              <a:gd name="adj" fmla="val 4839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3" name="Text 11"/>
          <p:cNvSpPr/>
          <p:nvPr/>
        </p:nvSpPr>
        <p:spPr>
          <a:xfrm>
            <a:off x="3566160" y="1719072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66160" y="22494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sponzoringu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66160" y="2560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6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sprostredkovaného zväzom — SFZ otvára dvere, Fynd dodáva plochu a publikum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126480" y="1609344"/>
            <a:ext cx="2606040" cy="1700784"/>
          </a:xfrm>
          <a:prstGeom prst="roundRect">
            <a:avLst>
              <a:gd name="adj" fmla="val 4839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7" name="Text 15"/>
          <p:cNvSpPr/>
          <p:nvPr/>
        </p:nvSpPr>
        <p:spPr>
          <a:xfrm>
            <a:off x="6355080" y="1719072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55080" y="22494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dáta pre SFZ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2560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6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dochádzkové agregáty, KPI reporty a podklady kvality klubov zadarmo, bez podmienok</a:t>
            </a:r>
            <a:endParaRPr lang="en-US" sz="96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8046720" cy="73152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Aktívni používatelia (futbal)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Ročný podiel SFZ (ilustračne)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9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~2 300 €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9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~12 000 €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9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~23 000 €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6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43708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Ilustračný prepočet z konzervatívnych konverzií (docs/FINANCIALS.md). Čísla škálujú lineárne s rastom, ktorý SFZ podporí odporúčaním. Alternatívy (licenčný model, fixný poplatok za klub) radi prediskutujeme.</a:t>
            </a:r>
            <a:endParaRPr lang="en-US" sz="95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PRVÝ KROK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Spoločný pilot 2026/27 — dôkaz namiesto sľubov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Jedna sezóna, jeden región. Fynd nesie všetky náklady.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85900" y="1847088"/>
            <a:ext cx="6172200" cy="0"/>
          </a:xfrm>
          <a:prstGeom prst="line">
            <a:avLst/>
          </a:prstGeom>
          <a:noFill/>
          <a:ln w="25400">
            <a:solidFill>
              <a:srgbClr val="22344A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7" name="Shape 5"/>
          <p:cNvSpPr/>
          <p:nvPr/>
        </p:nvSpPr>
        <p:spPr>
          <a:xfrm>
            <a:off x="1312164" y="1673352"/>
            <a:ext cx="347472" cy="347472"/>
          </a:xfrm>
          <a:prstGeom prst="ellipse">
            <a:avLst/>
          </a:prstGeom>
          <a:solidFill>
            <a:srgbClr val="0D1B2E"/>
          </a:solidFill>
          <a:ln w="1587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6"/>
          <p:cNvSpPr/>
          <p:nvPr/>
        </p:nvSpPr>
        <p:spPr>
          <a:xfrm>
            <a:off x="1312164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874520" cy="1481328"/>
          </a:xfrm>
          <a:prstGeom prst="roundRect">
            <a:avLst>
              <a:gd name="adj" fmla="val 5556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0" name="Text 8"/>
          <p:cNvSpPr/>
          <p:nvPr/>
        </p:nvSpPr>
        <p:spPr>
          <a:xfrm>
            <a:off x="713232" y="23408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6151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3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– 10 klubov v regióne Nová Baňa / Žiar nad Hronom — jeden ObFZ, derby efekt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3369564" y="1673352"/>
            <a:ext cx="347472" cy="347472"/>
          </a:xfrm>
          <a:prstGeom prst="ellipse">
            <a:avLst/>
          </a:prstGeom>
          <a:solidFill>
            <a:srgbClr val="0D1B2E"/>
          </a:solidFill>
          <a:ln w="1587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Text 11"/>
          <p:cNvSpPr/>
          <p:nvPr/>
        </p:nvSpPr>
        <p:spPr>
          <a:xfrm>
            <a:off x="3369564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606040" y="2212848"/>
            <a:ext cx="1874520" cy="1481328"/>
          </a:xfrm>
          <a:prstGeom prst="roundRect">
            <a:avLst>
              <a:gd name="adj" fmla="val 5556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5" name="Text 13"/>
          <p:cNvSpPr/>
          <p:nvPr/>
        </p:nvSpPr>
        <p:spPr>
          <a:xfrm>
            <a:off x="2770632" y="23408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70632" y="26151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3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nasadí platformu, osobne zaškolí trénerov, prevádzkuje na vlastné náklady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426964" y="1673352"/>
            <a:ext cx="347472" cy="347472"/>
          </a:xfrm>
          <a:prstGeom prst="ellipse">
            <a:avLst/>
          </a:prstGeom>
          <a:solidFill>
            <a:srgbClr val="0D1B2E"/>
          </a:solidFill>
          <a:ln w="1587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8" name="Text 16"/>
          <p:cNvSpPr/>
          <p:nvPr/>
        </p:nvSpPr>
        <p:spPr>
          <a:xfrm>
            <a:off x="5426964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2212848"/>
            <a:ext cx="1874520" cy="1481328"/>
          </a:xfrm>
          <a:prstGeom prst="roundRect">
            <a:avLst>
              <a:gd name="adj" fmla="val 5556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0" name="Text 18"/>
          <p:cNvSpPr/>
          <p:nvPr/>
        </p:nvSpPr>
        <p:spPr>
          <a:xfrm>
            <a:off x="4828032" y="23408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28032" y="26151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3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SFZ dostáva mesačne: dochádzka, aktívni hráči, retencia, engagement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484364" y="1673352"/>
            <a:ext cx="347472" cy="347472"/>
          </a:xfrm>
          <a:prstGeom prst="ellipse">
            <a:avLst/>
          </a:prstGeom>
          <a:solidFill>
            <a:srgbClr val="0D1B2E"/>
          </a:solidFill>
          <a:ln w="15875">
            <a:solidFill>
              <a:srgbClr val="00D97E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Text 21"/>
          <p:cNvSpPr/>
          <p:nvPr/>
        </p:nvSpPr>
        <p:spPr>
          <a:xfrm>
            <a:off x="7484364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20840" y="2212848"/>
            <a:ext cx="1874520" cy="1481328"/>
          </a:xfrm>
          <a:prstGeom prst="roundRect">
            <a:avLst>
              <a:gd name="adj" fmla="val 5556"/>
            </a:avLst>
          </a:prstGeom>
          <a:solidFill>
            <a:srgbClr val="0D1B2E"/>
          </a:solidFill>
          <a:ln w="19050">
            <a:solidFill>
              <a:srgbClr val="00D97E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5" name="Text 23"/>
          <p:cNvSpPr/>
          <p:nvPr/>
        </p:nvSpPr>
        <p:spPr>
          <a:xfrm>
            <a:off x="6885432" y="23408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VYHODNOTENIE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85432" y="26151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7000"/>
              </a:lnSpc>
              <a:buNone/>
            </a:pPr>
            <a:r>
              <a:rPr lang="en-US" sz="93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sezóne spoločne: či a ako zapojiť Fynd do ekosystému CD natrvalo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48640" y="3913632"/>
            <a:ext cx="8046720" cy="777240"/>
          </a:xfrm>
          <a:prstGeom prst="roundRect">
            <a:avLst>
              <a:gd name="adj" fmla="val 10588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8" name="Text 26"/>
          <p:cNvSpPr/>
          <p:nvPr/>
        </p:nvSpPr>
        <p:spPr>
          <a:xfrm>
            <a:off x="82296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KRITÉRIÁ ÚSPECHU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514600" y="4005072"/>
            <a:ext cx="5897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90 % tréningov označených do 24 h  ·  70 %+ opt-in notifikácií  ·  merateľné zlepšenie dochádzky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trénerov ≥ 40  ·  aspoň 1 vyzdvihnutá odmena z Odmeňovne na klub mesačne</a:t>
            </a:r>
            <a:endParaRPr lang="en-US" sz="1050" dirty="0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1772"/>
            <a:ext cx="82296" cy="82296"/>
          </a:xfrm>
          <a:prstGeom prst="ellipse">
            <a:avLst/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" name="Text 1"/>
          <p:cNvSpPr/>
          <p:nvPr/>
        </p:nvSpPr>
        <p:spPr>
          <a:xfrm>
            <a:off x="713232" y="40233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20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ZHRNUTIE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Win-win od prvého dňa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886200" cy="2331720"/>
          </a:xfrm>
          <a:prstGeom prst="roundRect">
            <a:avLst>
              <a:gd name="adj" fmla="val 35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SFZ / Club Development získa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901952"/>
            <a:ext cx="155448" cy="155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8470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dáta o tréningovej aktivite, ktoré dnes nemá</a:t>
            </a:r>
            <a:endParaRPr lang="en-US" sz="108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22576"/>
            <a:ext cx="155448" cy="1554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26771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zapojenie dieťaťa — chýbajúcej cieľovej skupiny</a:t>
            </a:r>
            <a:endParaRPr lang="en-US" sz="108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743200"/>
            <a:ext cx="155448" cy="1554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688336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podiel na tržbách platformy bez investície</a:t>
            </a:r>
            <a:endParaRPr lang="en-US" sz="108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163824"/>
            <a:ext cx="155448" cy="15544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3108960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denné publikum pre obsah CD.sk</a:t>
            </a:r>
            <a:endParaRPr lang="en-US" sz="1080" dirty="0"/>
          </a:p>
        </p:txBody>
      </p:sp>
      <p:sp>
        <p:nvSpPr>
          <p:cNvPr id="15" name="Shape 9"/>
          <p:cNvSpPr/>
          <p:nvPr/>
        </p:nvSpPr>
        <p:spPr>
          <a:xfrm>
            <a:off x="4709160" y="1280160"/>
            <a:ext cx="3886200" cy="2331720"/>
          </a:xfrm>
          <a:prstGeom prst="roundRect">
            <a:avLst>
              <a:gd name="adj" fmla="val 3529"/>
            </a:avLst>
          </a:prstGeom>
          <a:solidFill>
            <a:srgbClr val="1A2C42"/>
          </a:solidFill>
          <a:ln w="9525">
            <a:solidFill>
              <a:srgbClr val="24364D"/>
            </a:solidFill>
            <a:prstDash val="solid"/>
          </a:ln>
          <a:effectLst>
            <a:outerShdw blurRad="114300" dist="38100" dir="36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6" name="Text 10"/>
          <p:cNvSpPr/>
          <p:nvPr/>
        </p:nvSpPr>
        <p:spPr>
          <a:xfrm>
            <a:off x="4983480" y="14447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potrebuje od SFZ</a:t>
            </a:r>
            <a:endParaRPr lang="en-US" sz="14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901952"/>
            <a:ext cx="155448" cy="15544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57800" y="184708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prístup k sportnet.online API (hráči, súpisky, výsledky, prestupy)</a:t>
            </a:r>
            <a:endParaRPr lang="en-US" sz="108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2432304"/>
            <a:ext cx="155448" cy="15544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57800" y="237744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súhlas so spoločným pilotom v jednom ObFZ</a:t>
            </a:r>
            <a:endParaRPr lang="en-US" sz="108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2962656"/>
            <a:ext cx="155448" cy="1554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57800" y="290779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minút na prezentáciu detailov a demo</a:t>
            </a:r>
            <a:endParaRPr lang="en-US" sz="1080" dirty="0"/>
          </a:p>
        </p:txBody>
      </p:sp>
      <p:sp>
        <p:nvSpPr>
          <p:cNvPr id="23" name="Text 14"/>
          <p:cNvSpPr/>
          <p:nvPr/>
        </p:nvSpPr>
        <p:spPr>
          <a:xfrm>
            <a:off x="548640" y="38587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1F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informuje ekosystém. </a:t>
            </a:r>
            <a:r>
              <a:rPr lang="en-US" sz="1600" b="1" i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 motivuje jeho najdôležitejšieho </a:t>
            </a:r>
            <a:r>
              <a:rPr lang="en-US" sz="1600" b="1" i="1" dirty="0" err="1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člena</a:t>
            </a:r>
            <a:r>
              <a:rPr lang="en-US" sz="1600" b="1" i="1" dirty="0">
                <a:solidFill>
                  <a:srgbClr val="00D9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dieťa.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548640" y="4370832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00D97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25" name="Text 16"/>
          <p:cNvSpPr/>
          <p:nvPr/>
        </p:nvSpPr>
        <p:spPr>
          <a:xfrm>
            <a:off x="548640" y="437083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Dohodnime si stretnutie</a:t>
            </a:r>
            <a:endParaRPr lang="en-US" sz="1150" dirty="0"/>
          </a:p>
        </p:txBody>
      </p:sp>
      <p:sp>
        <p:nvSpPr>
          <p:cNvPr id="26" name="Text 17"/>
          <p:cNvSpPr/>
          <p:nvPr/>
        </p:nvSpPr>
        <p:spPr>
          <a:xfrm>
            <a:off x="3154680" y="4370832"/>
            <a:ext cx="5440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Tadeáš Letko · info@fynd.fans · fynd.fans · github.com/tadawur/fynd</a:t>
            </a:r>
            <a:endParaRPr lang="en-US" sz="105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8032"/>
            <a:ext cx="155448" cy="15544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7772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fynd.fans — Beyond the Score</a:t>
            </a:r>
            <a:endParaRPr lang="en-US" sz="850" dirty="0"/>
          </a:p>
        </p:txBody>
      </p:sp>
      <p:sp>
        <p:nvSpPr>
          <p:cNvPr id="29" name="Text 19"/>
          <p:cNvSpPr/>
          <p:nvPr/>
        </p:nvSpPr>
        <p:spPr>
          <a:xfrm>
            <a:off x="7680960" y="4809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850" dirty="0"/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1399</Words>
  <Application>Microsoft Macintosh PowerPoint</Application>
  <PresentationFormat>Prezentácia na obrazovke (16:9)</PresentationFormat>
  <Paragraphs>200</Paragraphs>
  <Slides>11</Slides>
  <Notes>11</Notes>
  <HiddenSlides>0</HiddenSlides>
  <MMClips>0</MMClips>
  <ScaleCrop>false</ScaleCrop>
  <HeadingPairs>
    <vt:vector size="6" baseType="variant">
      <vt:variant>
        <vt:lpstr>Použité písma</vt:lpstr>
      </vt:variant>
      <vt:variant>
        <vt:i4>1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Čo vie fynd.fans priniesť Club Development projektu navyše</dc:title>
  <dc:subject>PptxGenJS Presentation</dc:subject>
  <dc:creator>Tadeáš Letko</dc:creator>
  <cp:lastModifiedBy>Tadeáš Letko</cp:lastModifiedBy>
  <cp:revision>4</cp:revision>
  <dcterms:created xsi:type="dcterms:W3CDTF">2026-07-09T20:24:41Z</dcterms:created>
  <dcterms:modified xsi:type="dcterms:W3CDTF">2026-07-23T07:33:24Z</dcterms:modified>
</cp:coreProperties>
</file>